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3C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114800" cy="4114800"/>
          </a:xfrm>
          <a:prstGeom prst="ellipse">
            <a:avLst/>
          </a:prstGeom>
          <a:solidFill>
            <a:srgbClr val="0E7C7B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017520" cy="3017520"/>
          </a:xfrm>
          <a:prstGeom prst="ellipse">
            <a:avLst/>
          </a:prstGeom>
          <a:solidFill>
            <a:srgbClr val="17A398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7A3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COCO整骨院  ｜  ご相談資料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187452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LINE予約対応の</a:t>
            </a:r>
            <a:endParaRPr lang="en-US" sz="4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運用方針について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3977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F4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― 3つのタイプを見くらべて、一緒に決めましょう ―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2026年7月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7A3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なぜ今このお話を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現状の課題と、目指したいこと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675120" cy="1051560"/>
          </a:xfrm>
          <a:prstGeom prst="roundRect">
            <a:avLst>
              <a:gd name="adj" fmla="val 6957"/>
            </a:avLst>
          </a:prstGeom>
          <a:solidFill>
            <a:srgbClr val="F4FAF9"/>
          </a:solidFill>
          <a:ln w="12700">
            <a:solidFill>
              <a:srgbClr val="E2E8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74520"/>
            <a:ext cx="1234440" cy="502920"/>
          </a:xfrm>
          <a:prstGeom prst="roundRect">
            <a:avLst>
              <a:gd name="adj" fmla="val 18182"/>
            </a:avLst>
          </a:prstGeom>
          <a:solidFill>
            <a:srgbClr val="0E7C7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745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いま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94560" y="160020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LINE予約の対応方法が「本番用」「確認用」など何通りかに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分かれていて、整理しきれていない状態です。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07208"/>
            <a:ext cx="6675120" cy="1051560"/>
          </a:xfrm>
          <a:prstGeom prst="roundRect">
            <a:avLst>
              <a:gd name="adj" fmla="val 6957"/>
            </a:avLst>
          </a:prstGeom>
          <a:solidFill>
            <a:srgbClr val="F4FAF9"/>
          </a:solidFill>
          <a:ln w="12700">
            <a:solidFill>
              <a:srgbClr val="E2E8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3081528"/>
            <a:ext cx="1234440" cy="502920"/>
          </a:xfrm>
          <a:prstGeom prst="roundRect">
            <a:avLst>
              <a:gd name="adj" fmla="val 18182"/>
            </a:avLst>
          </a:prstGeom>
          <a:solidFill>
            <a:srgbClr val="C0524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08152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困りごと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94560" y="280720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休診日や自宅からだと予約対応ができず、スタッフが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院のスマホを見ないと動けません。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014216"/>
            <a:ext cx="6675120" cy="1051560"/>
          </a:xfrm>
          <a:prstGeom prst="roundRect">
            <a:avLst>
              <a:gd name="adj" fmla="val 6957"/>
            </a:avLst>
          </a:prstGeom>
          <a:solidFill>
            <a:srgbClr val="F4FAF9"/>
          </a:solidFill>
          <a:ln w="12700">
            <a:solidFill>
              <a:srgbClr val="E2E8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4288536"/>
            <a:ext cx="1234440" cy="502920"/>
          </a:xfrm>
          <a:prstGeom prst="roundRect">
            <a:avLst>
              <a:gd name="adj" fmla="val 18182"/>
            </a:avLst>
          </a:prstGeom>
          <a:solidFill>
            <a:srgbClr val="17A398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2885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目指す姿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94560" y="4014216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休診日でも、スタッフが自分のスマホでラクに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予約対応できる仕組みにしたい。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635240" y="1600200"/>
            <a:ext cx="3977640" cy="3538728"/>
          </a:xfrm>
          <a:prstGeom prst="roundRect">
            <a:avLst>
              <a:gd name="adj" fmla="val 2584"/>
            </a:avLst>
          </a:prstGeom>
          <a:solidFill>
            <a:srgbClr val="103C3A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909560" y="1874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A3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本日ご相談したいこと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909560" y="23774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患者さんへの「返信」を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どこまで自動でやるか？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909560" y="342900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F4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次のページから、</a:t>
            </a:r>
            <a:endParaRPr lang="en-US" sz="12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フルオート型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承認型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ハイブリッド型</a:t>
            </a:r>
            <a:endParaRPr lang="en-US" sz="12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200" dirty="0">
                <a:solidFill>
                  <a:srgbClr val="E8F4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の3つを、実際のLINE画面で</a:t>
            </a:r>
            <a:endParaRPr lang="en-US" sz="12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200" dirty="0">
                <a:solidFill>
                  <a:srgbClr val="E8F4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見くらべます。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7A3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まず共通の流れ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3タイプに共通する「はじめの部分」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どのタイプでも、ここまではAIが自動でやります。分かれるのは「このあと」です。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2880360" cy="46177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875">
            <a:solidFill>
              <a:srgbClr val="D3DAD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74520"/>
            <a:ext cx="2880360" cy="475488"/>
          </a:xfrm>
          <a:prstGeom prst="roundRect">
            <a:avLst>
              <a:gd name="adj" fmla="val 26923"/>
            </a:avLst>
          </a:prstGeom>
          <a:solidFill>
            <a:srgbClr val="0E7C7B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112264"/>
            <a:ext cx="2880360" cy="237744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87452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COCO整骨院（LINE）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275588" y="2496312"/>
            <a:ext cx="2061972" cy="384048"/>
          </a:xfrm>
          <a:prstGeom prst="roundRect">
            <a:avLst>
              <a:gd name="adj" fmla="val 21429"/>
            </a:avLst>
          </a:prstGeom>
          <a:solidFill>
            <a:srgbClr val="06C755"/>
          </a:solidFill>
          <a:ln/>
        </p:spPr>
      </p:sp>
      <p:sp>
        <p:nvSpPr>
          <p:cNvPr id="10" name="Text 8"/>
          <p:cNvSpPr/>
          <p:nvPr/>
        </p:nvSpPr>
        <p:spPr>
          <a:xfrm>
            <a:off x="1385316" y="2496312"/>
            <a:ext cx="1842516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予約したいです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22960" y="2990088"/>
            <a:ext cx="2061972" cy="658368"/>
          </a:xfrm>
          <a:prstGeom prst="roundRect">
            <a:avLst>
              <a:gd name="adj" fmla="val 12500"/>
            </a:avLst>
          </a:prstGeom>
          <a:solidFill>
            <a:srgbClr val="EFEFEF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2990088"/>
            <a:ext cx="1842516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カルテ登録のため、フルネーム（姓・名）を入力してください。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例: 田中 太郎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275588" y="3758184"/>
            <a:ext cx="2061972" cy="365760"/>
          </a:xfrm>
          <a:prstGeom prst="roundRect">
            <a:avLst>
              <a:gd name="adj" fmla="val 22500"/>
            </a:avLst>
          </a:prstGeom>
          <a:solidFill>
            <a:srgbClr val="06C755"/>
          </a:solidFill>
          <a:ln/>
        </p:spPr>
      </p:sp>
      <p:sp>
        <p:nvSpPr>
          <p:cNvPr id="14" name="Text 12"/>
          <p:cNvSpPr/>
          <p:nvPr/>
        </p:nvSpPr>
        <p:spPr>
          <a:xfrm>
            <a:off x="1385316" y="3758184"/>
            <a:ext cx="1842516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田中 太郎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22960" y="4233672"/>
            <a:ext cx="2061972" cy="402336"/>
          </a:xfrm>
          <a:prstGeom prst="roundRect">
            <a:avLst>
              <a:gd name="adj" fmla="val 20455"/>
            </a:avLst>
          </a:prstGeom>
          <a:solidFill>
            <a:srgbClr val="EFEFEF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4233672"/>
            <a:ext cx="1842516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ご希望メニューを選んでください。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275588" y="4745736"/>
            <a:ext cx="2061972" cy="365760"/>
          </a:xfrm>
          <a:prstGeom prst="roundRect">
            <a:avLst>
              <a:gd name="adj" fmla="val 22500"/>
            </a:avLst>
          </a:prstGeom>
          <a:solidFill>
            <a:srgbClr val="06C755"/>
          </a:solidFill>
          <a:ln/>
        </p:spPr>
      </p:sp>
      <p:sp>
        <p:nvSpPr>
          <p:cNvPr id="18" name="Text 16"/>
          <p:cNvSpPr/>
          <p:nvPr/>
        </p:nvSpPr>
        <p:spPr>
          <a:xfrm>
            <a:off x="1385316" y="4745736"/>
            <a:ext cx="1842516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骨盤矯正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22960" y="5221224"/>
            <a:ext cx="2061972" cy="566928"/>
          </a:xfrm>
          <a:prstGeom prst="roundRect">
            <a:avLst>
              <a:gd name="adj" fmla="val 14516"/>
            </a:avLst>
          </a:prstGeom>
          <a:solidFill>
            <a:srgbClr val="EFEFEF"/>
          </a:solidFill>
          <a:ln/>
        </p:spPr>
      </p:sp>
      <p:sp>
        <p:nvSpPr>
          <p:cNvPr id="20" name="Text 18"/>
          <p:cNvSpPr/>
          <p:nvPr/>
        </p:nvSpPr>
        <p:spPr>
          <a:xfrm>
            <a:off x="932688" y="5221224"/>
            <a:ext cx="1842516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ご希望日時を教えてください。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例: 4/10 10:00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275588" y="5897880"/>
            <a:ext cx="2061972" cy="365760"/>
          </a:xfrm>
          <a:prstGeom prst="roundRect">
            <a:avLst>
              <a:gd name="adj" fmla="val 22500"/>
            </a:avLst>
          </a:prstGeom>
          <a:solidFill>
            <a:srgbClr val="06C755"/>
          </a:solidFill>
          <a:ln/>
        </p:spPr>
      </p:sp>
      <p:sp>
        <p:nvSpPr>
          <p:cNvPr id="22" name="Text 20"/>
          <p:cNvSpPr/>
          <p:nvPr/>
        </p:nvSpPr>
        <p:spPr>
          <a:xfrm>
            <a:off x="1385316" y="5897880"/>
            <a:ext cx="1842516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7/10 10:00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60520" y="1965960"/>
            <a:ext cx="502920" cy="502920"/>
          </a:xfrm>
          <a:prstGeom prst="ellipse">
            <a:avLst/>
          </a:prstGeom>
          <a:solidFill>
            <a:srgbClr val="0E7C7B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16052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4892040" y="1947672"/>
            <a:ext cx="6720840" cy="777240"/>
          </a:xfrm>
          <a:prstGeom prst="roundRect">
            <a:avLst>
              <a:gd name="adj" fmla="val 9412"/>
            </a:avLst>
          </a:prstGeom>
          <a:solidFill>
            <a:srgbClr val="F4FAF9"/>
          </a:solidFill>
          <a:ln w="12700">
            <a:solidFill>
              <a:srgbClr val="E2E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020824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患者さんがLINEで送信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20640" y="237744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「予約したい」とメッセージ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411980" y="2468880"/>
            <a:ext cx="0" cy="502920"/>
          </a:xfrm>
          <a:prstGeom prst="line">
            <a:avLst/>
          </a:prstGeom>
          <a:noFill/>
          <a:ln w="25400">
            <a:solidFill>
              <a:srgbClr val="17A39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160520" y="2971800"/>
            <a:ext cx="502920" cy="502920"/>
          </a:xfrm>
          <a:prstGeom prst="ellipse">
            <a:avLst/>
          </a:prstGeom>
          <a:solidFill>
            <a:srgbClr val="0E7C7B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16052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4892040" y="2953512"/>
            <a:ext cx="6720840" cy="777240"/>
          </a:xfrm>
          <a:prstGeom prst="roundRect">
            <a:avLst>
              <a:gd name="adj" fmla="val 9412"/>
            </a:avLst>
          </a:prstGeom>
          <a:solidFill>
            <a:srgbClr val="F4FAF9"/>
          </a:solidFill>
          <a:ln w="12700">
            <a:solidFill>
              <a:srgbClr val="E2E8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0" y="3026664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AIが自動で聞き取り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20640" y="338328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お名前 → メニュー → 希望日時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411980" y="3474720"/>
            <a:ext cx="0" cy="502920"/>
          </a:xfrm>
          <a:prstGeom prst="line">
            <a:avLst/>
          </a:prstGeom>
          <a:noFill/>
          <a:ln w="25400">
            <a:solidFill>
              <a:srgbClr val="17A398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4160520" y="3977640"/>
            <a:ext cx="502920" cy="502920"/>
          </a:xfrm>
          <a:prstGeom prst="ellipse">
            <a:avLst/>
          </a:prstGeom>
          <a:solidFill>
            <a:srgbClr val="0E7C7B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16052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4892040" y="3959352"/>
            <a:ext cx="6720840" cy="777240"/>
          </a:xfrm>
          <a:prstGeom prst="roundRect">
            <a:avLst>
              <a:gd name="adj" fmla="val 9412"/>
            </a:avLst>
          </a:prstGeom>
          <a:solidFill>
            <a:srgbClr val="F4FAF9"/>
          </a:solidFill>
          <a:ln w="12700">
            <a:solidFill>
              <a:srgbClr val="E2E8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20640" y="4032504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空き枠を自動チェック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120640" y="438912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担当者・時間の空きを確認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160520" y="5074920"/>
            <a:ext cx="7452360" cy="1371600"/>
          </a:xfrm>
          <a:prstGeom prst="roundRect">
            <a:avLst>
              <a:gd name="adj" fmla="val 6667"/>
            </a:avLst>
          </a:prstGeom>
          <a:solidFill>
            <a:srgbClr val="103C3A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343400" y="5212080"/>
            <a:ext cx="708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A3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ここから先が、3タイプで分かれます ★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343400" y="5715000"/>
            <a:ext cx="7086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F4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「空きを確認できたあと、患者さんへ誰がどう返信するか」の違いです。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7A3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タイプ 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フルオート型 ― AIが最後まで自動で返信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スタッフが一切さわらなくても、AIが患者さんに直接「確定」まで返信します。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880360" cy="44805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875">
            <a:solidFill>
              <a:srgbClr val="D3DAD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28800"/>
            <a:ext cx="2880360" cy="475488"/>
          </a:xfrm>
          <a:prstGeom prst="roundRect">
            <a:avLst>
              <a:gd name="adj" fmla="val 26923"/>
            </a:avLst>
          </a:prstGeom>
          <a:solidFill>
            <a:srgbClr val="0E7C7B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066544"/>
            <a:ext cx="2880360" cy="237744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82880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患者さんのLINE画面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275588" y="2450592"/>
            <a:ext cx="2061972" cy="365760"/>
          </a:xfrm>
          <a:prstGeom prst="roundRect">
            <a:avLst>
              <a:gd name="adj" fmla="val 22500"/>
            </a:avLst>
          </a:prstGeom>
          <a:solidFill>
            <a:srgbClr val="06C755"/>
          </a:solidFill>
          <a:ln/>
        </p:spPr>
      </p:sp>
      <p:sp>
        <p:nvSpPr>
          <p:cNvPr id="10" name="Text 8"/>
          <p:cNvSpPr/>
          <p:nvPr/>
        </p:nvSpPr>
        <p:spPr>
          <a:xfrm>
            <a:off x="1385316" y="2450592"/>
            <a:ext cx="1842516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7/10 10:00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22960" y="2926080"/>
            <a:ext cx="2061972" cy="384048"/>
          </a:xfrm>
          <a:prstGeom prst="roundRect">
            <a:avLst>
              <a:gd name="adj" fmla="val 21429"/>
            </a:avLst>
          </a:prstGeom>
          <a:solidFill>
            <a:srgbClr val="EFEFEF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2926080"/>
            <a:ext cx="1842516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空き状況を確認しています…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22960" y="3419856"/>
            <a:ext cx="2061972" cy="868680"/>
          </a:xfrm>
          <a:prstGeom prst="roundRect">
            <a:avLst>
              <a:gd name="adj" fmla="val 9474"/>
            </a:avLst>
          </a:prstGeom>
          <a:solidFill>
            <a:srgbClr val="06C755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" y="3419856"/>
            <a:ext cx="1842516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ご予約を確定しました。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7/10(木) 10:00〜10:45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ご来院をお待ちしております。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22960" y="4398264"/>
            <a:ext cx="2061972" cy="384048"/>
          </a:xfrm>
          <a:prstGeom prst="roundRect">
            <a:avLst>
              <a:gd name="adj" fmla="val 21429"/>
            </a:avLst>
          </a:prstGeom>
          <a:solidFill>
            <a:srgbClr val="E8F4F2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4398264"/>
            <a:ext cx="1842516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E7C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＼ AIが自動で確定返信 ／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977640" y="1874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A3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流れ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977640" y="2240280"/>
            <a:ext cx="7589520" cy="868680"/>
          </a:xfrm>
          <a:prstGeom prst="roundRect">
            <a:avLst>
              <a:gd name="adj" fmla="val 8421"/>
            </a:avLst>
          </a:prstGeom>
          <a:solidFill>
            <a:srgbClr val="F4FAF9"/>
          </a:solidFill>
          <a:ln w="12700">
            <a:solidFill>
              <a:srgbClr val="E2E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60520" y="2240280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患者  →  AIが聞き取り  →  空き確認  →  AIが患者へ確定返信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160520" y="278892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7C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スタッフは介在しません（ゼロタッチ）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977640" y="3383280"/>
            <a:ext cx="370332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E2E8E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78808" y="351129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3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メリット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33672" y="3858768"/>
            <a:ext cx="3246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スタッフの手間がゼロ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24時間いつでも即レス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休診日・深夜でも自動で予約が埋まる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取りこぼしがない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863840" y="3383280"/>
            <a:ext cx="370332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E2E8E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065008" y="351129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52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デメリット・注意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119872" y="3858768"/>
            <a:ext cx="3246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AIが間違えても、そのまま患者に届く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院側で内容をコントロールしにくい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「言った・言わない」対応が難しい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難しい相談・イレギュラーに弱い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7A3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タイプ 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承認型 ― スタッフが最後にOKを押す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AIが下ごしらえ→スタッフのスマホにボタンが届く→ポチッと押すと患者へ返信。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788920" cy="4526280"/>
          </a:xfrm>
          <a:prstGeom prst="roundRect">
            <a:avLst>
              <a:gd name="adj" fmla="val 4590"/>
            </a:avLst>
          </a:prstGeom>
          <a:solidFill>
            <a:srgbClr val="FFFFFF"/>
          </a:solidFill>
          <a:ln w="15875">
            <a:solidFill>
              <a:srgbClr val="D3DAD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28800"/>
            <a:ext cx="2788920" cy="475488"/>
          </a:xfrm>
          <a:prstGeom prst="roundRect">
            <a:avLst>
              <a:gd name="adj" fmla="val 26923"/>
            </a:avLst>
          </a:prstGeom>
          <a:solidFill>
            <a:srgbClr val="0E7C7B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066544"/>
            <a:ext cx="2788920" cy="237744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82880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患者さんのLINE画面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259129" y="2450592"/>
            <a:ext cx="1986991" cy="365760"/>
          </a:xfrm>
          <a:prstGeom prst="roundRect">
            <a:avLst>
              <a:gd name="adj" fmla="val 22500"/>
            </a:avLst>
          </a:prstGeom>
          <a:solidFill>
            <a:srgbClr val="06C755"/>
          </a:solidFill>
          <a:ln/>
        </p:spPr>
      </p:sp>
      <p:sp>
        <p:nvSpPr>
          <p:cNvPr id="10" name="Text 8"/>
          <p:cNvSpPr/>
          <p:nvPr/>
        </p:nvSpPr>
        <p:spPr>
          <a:xfrm>
            <a:off x="1368857" y="2450592"/>
            <a:ext cx="1767535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7/10 10:00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22960" y="2926080"/>
            <a:ext cx="1986991" cy="658368"/>
          </a:xfrm>
          <a:prstGeom prst="roundRect">
            <a:avLst>
              <a:gd name="adj" fmla="val 12500"/>
            </a:avLst>
          </a:prstGeom>
          <a:solidFill>
            <a:srgbClr val="EFEFEF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2926080"/>
            <a:ext cx="1767535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ありがとうございます。空き状況を確認し、担当者からご案内します。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22960" y="3694176"/>
            <a:ext cx="1986991" cy="347472"/>
          </a:xfrm>
          <a:prstGeom prst="roundRect">
            <a:avLst>
              <a:gd name="adj" fmla="val 23684"/>
            </a:avLst>
          </a:prstGeom>
          <a:solidFill>
            <a:srgbClr val="E8F4F2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" y="3694176"/>
            <a:ext cx="1767535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E7C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（スタッフが承認すると↓）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22960" y="4151376"/>
            <a:ext cx="1986991" cy="868680"/>
          </a:xfrm>
          <a:prstGeom prst="roundRect">
            <a:avLst>
              <a:gd name="adj" fmla="val 9474"/>
            </a:avLst>
          </a:prstGeom>
          <a:solidFill>
            <a:srgbClr val="06C755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4151376"/>
            <a:ext cx="1767535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ご予約を確定しました。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7/10(木) 10:00〜10:45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ご来院をお待ちしております。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0" y="1828800"/>
            <a:ext cx="2788920" cy="4526280"/>
          </a:xfrm>
          <a:prstGeom prst="roundRect">
            <a:avLst>
              <a:gd name="adj" fmla="val 4590"/>
            </a:avLst>
          </a:prstGeom>
          <a:solidFill>
            <a:srgbClr val="FFFFFF"/>
          </a:solidFill>
          <a:ln w="15875">
            <a:solidFill>
              <a:srgbClr val="D3DAD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0" y="1828800"/>
            <a:ext cx="2788920" cy="475488"/>
          </a:xfrm>
          <a:prstGeom prst="roundRect">
            <a:avLst>
              <a:gd name="adj" fmla="val 26923"/>
            </a:avLst>
          </a:prstGeom>
          <a:solidFill>
            <a:srgbClr val="0E7C7B"/>
          </a:solidFill>
          <a:ln/>
        </p:spPr>
      </p:sp>
      <p:sp>
        <p:nvSpPr>
          <p:cNvPr id="19" name="Shape 17"/>
          <p:cNvSpPr/>
          <p:nvPr/>
        </p:nvSpPr>
        <p:spPr>
          <a:xfrm>
            <a:off x="3657600" y="2066544"/>
            <a:ext cx="2788920" cy="237744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0" y="1828800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スタッフの個人スマホ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840480" y="2468880"/>
            <a:ext cx="2423160" cy="3611880"/>
          </a:xfrm>
          <a:prstGeom prst="roundRect">
            <a:avLst>
              <a:gd name="adj" fmla="val 3019"/>
            </a:avLst>
          </a:prstGeom>
          <a:solidFill>
            <a:srgbClr val="F7F9F9"/>
          </a:solidFill>
          <a:ln w="12700">
            <a:solidFill>
              <a:srgbClr val="DFE5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0" y="2468880"/>
            <a:ext cx="242316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</p:sp>
      <p:sp>
        <p:nvSpPr>
          <p:cNvPr id="23" name="Shape 21"/>
          <p:cNvSpPr/>
          <p:nvPr/>
        </p:nvSpPr>
        <p:spPr>
          <a:xfrm>
            <a:off x="3840480" y="2697480"/>
            <a:ext cx="2423160" cy="228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3977640" y="24688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LINE予約確認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977640" y="301752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患者: 田中太郎</a:t>
            </a:r>
            <a:endParaRPr lang="en-US" sz="10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希望: 7/10 10:00</a:t>
            </a:r>
            <a:endParaRPr lang="en-US" sz="10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メニュー: 骨盤矯正</a:t>
            </a:r>
            <a:endParaRPr lang="en-US" sz="10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950" dirty="0">
                <a:solidFill>
                  <a:srgbClr val="0E7C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空きあり: 10:00〜10:45（院長）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977640" y="4251960"/>
            <a:ext cx="2148840" cy="457200"/>
          </a:xfrm>
          <a:prstGeom prst="roundRect">
            <a:avLst>
              <a:gd name="adj" fmla="val 14000"/>
            </a:avLst>
          </a:prstGeom>
          <a:solidFill>
            <a:srgbClr val="16A34A"/>
          </a:solidFill>
          <a:ln/>
        </p:spPr>
      </p:sp>
      <p:sp>
        <p:nvSpPr>
          <p:cNvPr id="27" name="Text 25"/>
          <p:cNvSpPr/>
          <p:nvPr/>
        </p:nvSpPr>
        <p:spPr>
          <a:xfrm>
            <a:off x="3977640" y="42519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承認・確定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977640" y="4818888"/>
            <a:ext cx="2148840" cy="457200"/>
          </a:xfrm>
          <a:prstGeom prst="roundRect">
            <a:avLst>
              <a:gd name="adj" fmla="val 14000"/>
            </a:avLst>
          </a:prstGeom>
          <a:solidFill>
            <a:srgbClr val="E5E7EB"/>
          </a:solidFill>
          <a:ln/>
        </p:spPr>
      </p:sp>
      <p:sp>
        <p:nvSpPr>
          <p:cNvPr id="29" name="Text 27"/>
          <p:cNvSpPr/>
          <p:nvPr/>
        </p:nvSpPr>
        <p:spPr>
          <a:xfrm>
            <a:off x="3977640" y="481888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代替案を送る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977640" y="5385816"/>
            <a:ext cx="2148840" cy="457200"/>
          </a:xfrm>
          <a:prstGeom prst="roundRect">
            <a:avLst>
              <a:gd name="adj" fmla="val 14000"/>
            </a:avLst>
          </a:prstGeom>
          <a:solidFill>
            <a:srgbClr val="E5E7EB"/>
          </a:solidFill>
          <a:ln/>
        </p:spPr>
      </p:sp>
      <p:sp>
        <p:nvSpPr>
          <p:cNvPr id="31" name="Text 29"/>
          <p:cNvSpPr/>
          <p:nvPr/>
        </p:nvSpPr>
        <p:spPr>
          <a:xfrm>
            <a:off x="3977640" y="5385816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自分で返信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0" y="597103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E7C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↑ 自宅の自分のスマホで1タップ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720840" y="1828800"/>
            <a:ext cx="2514600" cy="452628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2E8E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922008" y="1956816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3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メリット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976872" y="2304288"/>
            <a:ext cx="20574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AIの間違いを人間が止められる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休診日も自宅の自分スマホで1タップ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院が主導権を持てる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満席なら「代替案」も選べる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「押さえる」と一言でも承認OK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372600" y="1828800"/>
            <a:ext cx="2514600" cy="452628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2E8E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9573768" y="1956816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8A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デメリット・注意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628632" y="2304288"/>
            <a:ext cx="20574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誰かがスマホを見て押す必要がある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即レスではない（承認待ちの時間）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対応するスタッフの取り決めが要る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7A3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タイプ ③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ハイブリッド型 ― 時間帯で切り替え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「昼間は承認型・夜間や休診日はフルオート」など、時間帯やルールで自動と手動を使い分けます。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F4FAF9"/>
          </a:solidFill>
          <a:ln w="12700">
            <a:solidFill>
              <a:srgbClr val="E2E8E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103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営業時間・スタッフがいる時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承認型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30632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スタッフが内容を見てからボタンで確定。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いつもの安心な対応。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92024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103C3A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2103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3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深夜・早朝・休診日など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25146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フルオート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92240" y="30632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F4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誰も見られない時間帯は、AIが自動で確定。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F4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取りこぼしを防ぐ。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343400"/>
            <a:ext cx="53949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E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248" y="447141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3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メリット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96112" y="4818888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両タイプの「いいとこ取り」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日中は安心、夜間は取りこぼしゼロ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運用に合わせて細かく調整できる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63640" y="4343400"/>
            <a:ext cx="53949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E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64808" y="447141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52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デメリット・注意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19672" y="4818888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仕組みが一番ふくざつ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「何時から何時は自動」などルール設計が必要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動作確認・メンテの手間が増える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7A3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ひと目で比較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3タイプ 比較まとめ</a:t>
            </a:r>
            <a:endParaRPr lang="en-US" sz="2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343400"/>
        </p:xfrm>
        <a:graphic>
          <a:graphicData uri="http://schemas.openxmlformats.org/drawingml/2006/table">
            <a:tbl>
              <a:tblPr/>
              <a:tblGrid>
                <a:gridCol w="2834640"/>
                <a:gridCol w="2743200"/>
                <a:gridCol w="2743200"/>
                <a:gridCol w="274320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比較ポイント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① フルオート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② 承認型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③ ハイブリッド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C3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スタッフの手間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A39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ほぼゼロ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98A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1タップ必要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98A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時間帯による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返信の速さ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A39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即レス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98A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承認待ちあり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7C7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時間帯による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誤対応リスク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524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高め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A39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低い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98A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低い〜中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休診日・自宅対応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A39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自動で完結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A39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自分スマホで承認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A39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自動＋承認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院のコントロール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524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弱い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A39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強い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7C7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中〜強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導入のふくざつさ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A39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シンプル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A39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シンプル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524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複雑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126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色の目安：  緑＝得意 ／ 黄＝要検討 ／ 赤＝注意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7A3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スタッフの受け取り方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通知は「各自の個人スマホ」に届きます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院のスマホ（公式LINE管理アプリ）を開かなくても、スタッフ一人ひとりの個人LINEに予約依頼が届きます。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103C3A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331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院の公式LINE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予約依頼をボタン付きで配信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66160" y="2788920"/>
            <a:ext cx="777240" cy="-457200"/>
          </a:xfrm>
          <a:prstGeom prst="line">
            <a:avLst/>
          </a:prstGeom>
          <a:noFill/>
          <a:ln w="25400">
            <a:solidFill>
              <a:srgbClr val="17A39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434840" y="1965960"/>
            <a:ext cx="2880360" cy="731520"/>
          </a:xfrm>
          <a:prstGeom prst="roundRect">
            <a:avLst>
              <a:gd name="adj" fmla="val 10000"/>
            </a:avLst>
          </a:prstGeom>
          <a:solidFill>
            <a:srgbClr val="F4FAF9"/>
          </a:solidFill>
          <a:ln w="12700">
            <a:solidFill>
              <a:srgbClr val="E2E8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9659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上田さん の個人スマホ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406640" y="19659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7C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自宅でポチッと承認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566160" y="2788920"/>
            <a:ext cx="777240" cy="457200"/>
          </a:xfrm>
          <a:prstGeom prst="line">
            <a:avLst/>
          </a:prstGeom>
          <a:noFill/>
          <a:ln w="25400">
            <a:solidFill>
              <a:srgbClr val="17A39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434840" y="2880360"/>
            <a:ext cx="2880360" cy="731520"/>
          </a:xfrm>
          <a:prstGeom prst="roundRect">
            <a:avLst>
              <a:gd name="adj" fmla="val 10000"/>
            </a:avLst>
          </a:prstGeom>
          <a:solidFill>
            <a:srgbClr val="F4FAF9"/>
          </a:solidFill>
          <a:ln w="12700">
            <a:solidFill>
              <a:srgbClr val="E2E8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28803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出口さん の個人スマホ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406640" y="2880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7C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自宅でポチッと承認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566160" y="2788920"/>
            <a:ext cx="777240" cy="1371600"/>
          </a:xfrm>
          <a:prstGeom prst="line">
            <a:avLst/>
          </a:prstGeom>
          <a:noFill/>
          <a:ln w="25400">
            <a:solidFill>
              <a:srgbClr val="17A39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434840" y="3794760"/>
            <a:ext cx="2880360" cy="731520"/>
          </a:xfrm>
          <a:prstGeom prst="roundRect">
            <a:avLst>
              <a:gd name="adj" fmla="val 10000"/>
            </a:avLst>
          </a:prstGeom>
          <a:solidFill>
            <a:srgbClr val="F4FAF9"/>
          </a:solidFill>
          <a:ln w="12700">
            <a:solidFill>
              <a:srgbClr val="E2E8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3794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時田さん の個人スマホ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406640" y="3794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7C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自宅でポチッと承認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" y="4892040"/>
            <a:ext cx="5394960" cy="1508760"/>
          </a:xfrm>
          <a:prstGeom prst="roundRect">
            <a:avLst>
              <a:gd name="adj" fmla="val 4848"/>
            </a:avLst>
          </a:prstGeom>
          <a:solidFill>
            <a:srgbClr val="E8F4F2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507492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</a:t>
            </a:r>
            <a:endParaRPr lang="en-US" sz="12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15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「グループLINE」ではなく、一人ひとりに個別で通知します。誰が対応してもOK。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63640" y="4892040"/>
            <a:ext cx="53492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E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92240" y="5029200"/>
            <a:ext cx="4892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2つのやり方（後で選べます）</a:t>
            </a:r>
            <a:endParaRPr lang="en-US" sz="12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A. 業務専用のBotを新しく作る（患者用とキレイに分離）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B. 院の公式LINEに相乗り（実装は軽いが通知が混ざる）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3C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3840480" cy="3840480"/>
          </a:xfrm>
          <a:prstGeom prst="ellipse">
            <a:avLst/>
          </a:prstGeom>
          <a:solidFill>
            <a:srgbClr val="0E7C7B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-1280160"/>
            <a:ext cx="3474720" cy="3474720"/>
          </a:xfrm>
          <a:prstGeom prst="ellipse">
            <a:avLst/>
          </a:prstGeom>
          <a:solidFill>
            <a:srgbClr val="17A398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3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ご相談・決めたいこと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10972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次のステップ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502920" cy="502920"/>
          </a:xfrm>
          <a:prstGeom prst="ellipse">
            <a:avLst/>
          </a:prstGeom>
          <a:solidFill>
            <a:srgbClr val="17A398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54480" y="22402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どのタイプでいくか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26700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4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フルオート ／ ② 承認型 ／ ③ ハイブリッド から選ぶ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337560"/>
            <a:ext cx="502920" cy="502920"/>
          </a:xfrm>
          <a:prstGeom prst="ellipse">
            <a:avLst/>
          </a:prstGeom>
          <a:solidFill>
            <a:srgbClr val="17A398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54480" y="32918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スタッフ通知のやり方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54480" y="372160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4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専用Botを新設するか、公式LINEに相乗りするか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4389120"/>
            <a:ext cx="502920" cy="502920"/>
          </a:xfrm>
          <a:prstGeom prst="ellipse">
            <a:avLst/>
          </a:prstGeom>
          <a:solidFill>
            <a:srgbClr val="17A398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54480" y="43434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対応の取り決め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47731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4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休診日は誰が見るか・どのくらいで返すか の目安を決める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5623560"/>
            <a:ext cx="10515600" cy="868680"/>
          </a:xfrm>
          <a:prstGeom prst="roundRect">
            <a:avLst>
              <a:gd name="adj" fmla="val 10526"/>
            </a:avLst>
          </a:prstGeom>
          <a:solidFill>
            <a:srgbClr val="17A398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56235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方針が決まれば、いまの仕組みを活かして「本番1本」に統合できます。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LINE予約対応の運用方針について</dc:title>
  <dc:subject>PptxGenJS Presentation</dc:subject>
  <dc:creator>まこと</dc:creator>
  <cp:lastModifiedBy>まこと</cp:lastModifiedBy>
  <cp:revision>1</cp:revision>
  <dcterms:created xsi:type="dcterms:W3CDTF">2026-07-01T17:33:03Z</dcterms:created>
  <dcterms:modified xsi:type="dcterms:W3CDTF">2026-07-01T17:33:03Z</dcterms:modified>
</cp:coreProperties>
</file>